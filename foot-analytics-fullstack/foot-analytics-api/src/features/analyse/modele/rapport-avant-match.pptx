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5A1118-70DA-484F-B31E-DD051B7CF5F0}">
  <a:tblStyle styleId="{165A1118-70DA-484F-B31E-DD051B7CF5F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Couverture : journée, division, nom du club adverse, date/heure, lieu, classement actuel.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Déplacer les ronds rouges pour adapter le système (4-3-3, 3-5-2...) et mettre les vrais numéros.</a:t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3D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760720" y="914400"/>
            <a:ext cx="3291840" cy="3291840"/>
          </a:xfrm>
          <a:prstGeom prst="ellipse">
            <a:avLst/>
          </a:prstGeom>
          <a:solidFill>
            <a:srgbClr val="0F3D2E"/>
          </a:solidFill>
          <a:ln cap="flat" cmpd="sng" w="25400">
            <a:solidFill>
              <a:srgbClr val="1F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7406640" y="0"/>
            <a:ext cx="0" cy="5143500"/>
          </a:xfrm>
          <a:prstGeom prst="straightConnector1">
            <a:avLst/>
          </a:prstGeom>
          <a:noFill/>
          <a:ln cap="flat" cmpd="sng" w="25400">
            <a:solidFill>
              <a:srgbClr val="1F6B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/>
          <p:nvPr/>
        </p:nvSpPr>
        <p:spPr>
          <a:xfrm>
            <a:off x="7333488" y="2496312"/>
            <a:ext cx="146304" cy="146304"/>
          </a:xfrm>
          <a:prstGeom prst="ellipse">
            <a:avLst/>
          </a:prstGeom>
          <a:solidFill>
            <a:srgbClr val="1F6B4A"/>
          </a:solidFill>
          <a:ln cap="flat" cmpd="sng" w="12700">
            <a:solidFill>
              <a:srgbClr val="1F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2B705"/>
                </a:solidFill>
                <a:latin typeface="Arial"/>
                <a:ea typeface="Arial"/>
                <a:cs typeface="Arial"/>
                <a:sym typeface="Arial"/>
              </a:rPr>
              <a:t>J[X]  ·  CHAMPIONNAT  ·  [DIVISION]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9B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9C9B8"/>
                </a:solidFill>
                <a:latin typeface="Arial"/>
                <a:ea typeface="Arial"/>
                <a:cs typeface="Arial"/>
                <a:sym typeface="Arial"/>
              </a:rPr>
              <a:t>PROCHAIN ADVERSAIRE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548640" y="1554480"/>
            <a:ext cx="5943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[NOM DU CLUB]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548640" y="237744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OLS S2  vs  [Adversaire]   —   [Domicile / Extérieur]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3246120"/>
            <a:ext cx="1737360" cy="868680"/>
          </a:xfrm>
          <a:prstGeom prst="roundRect">
            <a:avLst>
              <a:gd fmla="val 8421" name="adj"/>
            </a:avLst>
          </a:prstGeom>
          <a:solidFill>
            <a:srgbClr val="1F6B4A"/>
          </a:solidFill>
          <a:ln cap="flat" cmpd="sng" w="12700">
            <a:solidFill>
              <a:srgbClr val="1F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 txBox="1"/>
          <p:nvPr/>
        </p:nvSpPr>
        <p:spPr>
          <a:xfrm>
            <a:off x="685800" y="335584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2B705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685800" y="3584448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[Sam. 03/10 · 20h]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423160" y="3246120"/>
            <a:ext cx="1737360" cy="868680"/>
          </a:xfrm>
          <a:prstGeom prst="roundRect">
            <a:avLst>
              <a:gd fmla="val 8421" name="adj"/>
            </a:avLst>
          </a:prstGeom>
          <a:solidFill>
            <a:srgbClr val="1F6B4A"/>
          </a:solidFill>
          <a:ln cap="flat" cmpd="sng" w="12700">
            <a:solidFill>
              <a:srgbClr val="1F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2560320" y="335584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2B705"/>
                </a:solidFill>
                <a:latin typeface="Arial"/>
                <a:ea typeface="Arial"/>
                <a:cs typeface="Arial"/>
                <a:sym typeface="Arial"/>
              </a:rPr>
              <a:t>LIEU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2560320" y="3584448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[Stade, Ville]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297680" y="3246120"/>
            <a:ext cx="1737360" cy="868680"/>
          </a:xfrm>
          <a:prstGeom prst="roundRect">
            <a:avLst>
              <a:gd fmla="val 8421" name="adj"/>
            </a:avLst>
          </a:prstGeom>
          <a:solidFill>
            <a:srgbClr val="1F6B4A"/>
          </a:solidFill>
          <a:ln cap="flat" cmpd="sng" w="12700">
            <a:solidFill>
              <a:srgbClr val="1F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 txBox="1"/>
          <p:nvPr/>
        </p:nvSpPr>
        <p:spPr>
          <a:xfrm>
            <a:off x="4434840" y="3355848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2B705"/>
                </a:solidFill>
                <a:latin typeface="Arial"/>
                <a:ea typeface="Arial"/>
                <a:cs typeface="Arial"/>
                <a:sym typeface="Arial"/>
              </a:rPr>
              <a:t>CLASSEMENT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4434840" y="3584448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[5e · 12 pts]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F3D2E"/>
          </a:solidFill>
          <a:ln cap="flat" cmpd="sng" w="12700">
            <a:solidFill>
              <a:srgbClr val="0F3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846" y="5084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/>
          <p:nvPr/>
        </p:nvSpPr>
        <p:spPr>
          <a:xfrm>
            <a:off x="1143000" y="34747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B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6B4A"/>
                </a:solidFill>
                <a:latin typeface="Arial"/>
                <a:ea typeface="Arial"/>
                <a:cs typeface="Arial"/>
                <a:sym typeface="Arial"/>
              </a:rPr>
              <a:t>CONTEXTE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1143000" y="5486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Le match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1188720"/>
            <a:ext cx="3931920" cy="713232"/>
          </a:xfrm>
          <a:prstGeom prst="roundRect">
            <a:avLst>
              <a:gd fmla="val 10256" name="adj"/>
            </a:avLst>
          </a:prstGeom>
          <a:solidFill>
            <a:srgbClr val="E8F2EC"/>
          </a:solidFill>
          <a:ln cap="flat" cmpd="sng" w="12700">
            <a:solidFill>
              <a:srgbClr val="E8F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21792" y="1344168"/>
            <a:ext cx="402336" cy="40233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376" y="144475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 txBox="1"/>
          <p:nvPr/>
        </p:nvSpPr>
        <p:spPr>
          <a:xfrm>
            <a:off x="1188720" y="129844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B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6B4A"/>
                </a:solidFill>
                <a:latin typeface="Arial"/>
                <a:ea typeface="Arial"/>
                <a:cs typeface="Arial"/>
                <a:sym typeface="Arial"/>
              </a:rPr>
              <a:t>Jour &amp; coup d’envoi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1188720" y="151790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[Samedi 03/10 — 20h00]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2039112"/>
            <a:ext cx="3931920" cy="713232"/>
          </a:xfrm>
          <a:prstGeom prst="roundRect">
            <a:avLst>
              <a:gd fmla="val 10256" name="adj"/>
            </a:avLst>
          </a:prstGeom>
          <a:solidFill>
            <a:srgbClr val="E8F2EC"/>
          </a:solidFill>
          <a:ln cap="flat" cmpd="sng" w="12700">
            <a:solidFill>
              <a:srgbClr val="E8F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21792" y="2194560"/>
            <a:ext cx="402336" cy="40233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376" y="229514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 txBox="1"/>
          <p:nvPr/>
        </p:nvSpPr>
        <p:spPr>
          <a:xfrm>
            <a:off x="1188720" y="214884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B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6B4A"/>
                </a:solidFill>
                <a:latin typeface="Arial"/>
                <a:ea typeface="Arial"/>
                <a:cs typeface="Arial"/>
                <a:sym typeface="Arial"/>
              </a:rPr>
              <a:t>Convocation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1188720" y="236829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[18h45 au stade / 18h00 au club]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7200" y="2889504"/>
            <a:ext cx="3931920" cy="713232"/>
          </a:xfrm>
          <a:prstGeom prst="roundRect">
            <a:avLst>
              <a:gd fmla="val 10256" name="adj"/>
            </a:avLst>
          </a:prstGeom>
          <a:solidFill>
            <a:srgbClr val="E8F2EC"/>
          </a:solidFill>
          <a:ln cap="flat" cmpd="sng" w="12700">
            <a:solidFill>
              <a:srgbClr val="E8F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21792" y="3044952"/>
            <a:ext cx="402336" cy="40233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2376" y="31455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"/>
          <p:cNvSpPr txBox="1"/>
          <p:nvPr/>
        </p:nvSpPr>
        <p:spPr>
          <a:xfrm>
            <a:off x="1188720" y="299923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B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6B4A"/>
                </a:solidFill>
                <a:latin typeface="Arial"/>
                <a:ea typeface="Arial"/>
                <a:cs typeface="Arial"/>
                <a:sym typeface="Arial"/>
              </a:rPr>
              <a:t>Adresse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1188720" y="321868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[Stade X, rue Y, Ville]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57200" y="3739896"/>
            <a:ext cx="3931920" cy="713232"/>
          </a:xfrm>
          <a:prstGeom prst="roundRect">
            <a:avLst>
              <a:gd fmla="val 10256" name="adj"/>
            </a:avLst>
          </a:prstGeom>
          <a:solidFill>
            <a:srgbClr val="E8F2EC"/>
          </a:solidFill>
          <a:ln cap="flat" cmpd="sng" w="12700">
            <a:solidFill>
              <a:srgbClr val="E8F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621792" y="3895344"/>
            <a:ext cx="402336" cy="40233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2376" y="39959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 txBox="1"/>
          <p:nvPr/>
        </p:nvSpPr>
        <p:spPr>
          <a:xfrm>
            <a:off x="1188720" y="3849624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B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6B4A"/>
                </a:solidFill>
                <a:latin typeface="Arial"/>
                <a:ea typeface="Arial"/>
                <a:cs typeface="Arial"/>
                <a:sym typeface="Arial"/>
              </a:rPr>
              <a:t>Enjeu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1188720" y="40690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[Ex : match à 6 points pour le podium]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754880" y="1188720"/>
            <a:ext cx="3931920" cy="3319272"/>
          </a:xfrm>
          <a:prstGeom prst="roundRect">
            <a:avLst>
              <a:gd fmla="val 2204" name="adj"/>
            </a:avLst>
          </a:prstGeom>
          <a:solidFill>
            <a:srgbClr val="0F3D2E"/>
          </a:solidFill>
          <a:ln cap="flat" cmpd="sng" w="12700">
            <a:solidFill>
              <a:srgbClr val="0F3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 txBox="1"/>
          <p:nvPr/>
        </p:nvSpPr>
        <p:spPr>
          <a:xfrm>
            <a:off x="4983480" y="132588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2B705"/>
                </a:solidFill>
                <a:latin typeface="Arial"/>
                <a:ea typeface="Arial"/>
                <a:cs typeface="Arial"/>
                <a:sym typeface="Arial"/>
              </a:rPr>
              <a:t>LE TERRAIN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4983480" y="169164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9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9C9B8"/>
                </a:solidFill>
                <a:latin typeface="Arial"/>
                <a:ea typeface="Arial"/>
                <a:cs typeface="Arial"/>
                <a:sym typeface="Arial"/>
              </a:rPr>
              <a:t>Surface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4983480" y="189280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[Synthétique / Pelouse naturelle]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4983480" y="235000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9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9C9B8"/>
                </a:solidFill>
                <a:latin typeface="Arial"/>
                <a:ea typeface="Arial"/>
                <a:cs typeface="Arial"/>
                <a:sym typeface="Arial"/>
              </a:rPr>
              <a:t>Dimensions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4983480" y="255117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[Grand / Moyen / Étroit]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4983480" y="300837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9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9C9B8"/>
                </a:solidFill>
                <a:latin typeface="Arial"/>
                <a:ea typeface="Arial"/>
                <a:cs typeface="Arial"/>
                <a:sym typeface="Arial"/>
              </a:rPr>
              <a:t>État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4983480" y="320954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[Bon / Bosselé / Gras si pluie]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 txBox="1"/>
          <p:nvPr/>
        </p:nvSpPr>
        <p:spPr>
          <a:xfrm>
            <a:off x="4983480" y="366674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9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9C9B8"/>
                </a:solidFill>
                <a:latin typeface="Arial"/>
                <a:ea typeface="Arial"/>
                <a:cs typeface="Arial"/>
                <a:sym typeface="Arial"/>
              </a:rPr>
              <a:t>À savoir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4983480" y="3867912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[Ex : vent de face en 1re MT, main courante proche]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OLS SENIORS 2  ·  PRÉSENTATION ADVERSAIRE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F3D2E"/>
          </a:solidFill>
          <a:ln cap="flat" cmpd="sng" w="12700">
            <a:solidFill>
              <a:srgbClr val="0F3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846" y="5084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 txBox="1"/>
          <p:nvPr/>
        </p:nvSpPr>
        <p:spPr>
          <a:xfrm>
            <a:off x="1143000" y="34747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B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6B4A"/>
                </a:solidFill>
                <a:latin typeface="Arial"/>
                <a:ea typeface="Arial"/>
                <a:cs typeface="Arial"/>
                <a:sym typeface="Arial"/>
              </a:rPr>
              <a:t>EN CHIFFRES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1143000" y="5486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Leur saison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7200" y="1188720"/>
            <a:ext cx="1517904" cy="914400"/>
          </a:xfrm>
          <a:prstGeom prst="roundRect">
            <a:avLst>
              <a:gd fmla="val 8000" name="adj"/>
            </a:avLst>
          </a:prstGeom>
          <a:solidFill>
            <a:srgbClr val="E8F2EC"/>
          </a:solidFill>
          <a:ln cap="flat" cmpd="sng" w="12700">
            <a:solidFill>
              <a:srgbClr val="E8F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 txBox="1"/>
          <p:nvPr/>
        </p:nvSpPr>
        <p:spPr>
          <a:xfrm>
            <a:off x="457200" y="1243584"/>
            <a:ext cx="15179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3D2E"/>
                </a:solidFill>
                <a:latin typeface="Arial"/>
                <a:ea typeface="Arial"/>
                <a:cs typeface="Arial"/>
                <a:sym typeface="Arial"/>
              </a:rPr>
              <a:t>[5e]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457200" y="1764792"/>
            <a:ext cx="15179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Classement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2135124" y="1188720"/>
            <a:ext cx="1517904" cy="914400"/>
          </a:xfrm>
          <a:prstGeom prst="roundRect">
            <a:avLst>
              <a:gd fmla="val 8000" name="adj"/>
            </a:avLst>
          </a:prstGeom>
          <a:solidFill>
            <a:srgbClr val="E8F2EC"/>
          </a:solidFill>
          <a:ln cap="flat" cmpd="sng" w="12700">
            <a:solidFill>
              <a:srgbClr val="E8F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 txBox="1"/>
          <p:nvPr/>
        </p:nvSpPr>
        <p:spPr>
          <a:xfrm>
            <a:off x="2135124" y="1243584"/>
            <a:ext cx="15179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3D2E"/>
                </a:solidFill>
                <a:latin typeface="Arial"/>
                <a:ea typeface="Arial"/>
                <a:cs typeface="Arial"/>
                <a:sym typeface="Arial"/>
              </a:rPr>
              <a:t>[12]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2135124" y="1764792"/>
            <a:ext cx="15179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813048" y="1188720"/>
            <a:ext cx="1517904" cy="914400"/>
          </a:xfrm>
          <a:prstGeom prst="roundRect">
            <a:avLst>
              <a:gd fmla="val 8000" name="adj"/>
            </a:avLst>
          </a:prstGeom>
          <a:solidFill>
            <a:srgbClr val="E8F2EC"/>
          </a:solidFill>
          <a:ln cap="flat" cmpd="sng" w="12700">
            <a:solidFill>
              <a:srgbClr val="E8F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 txBox="1"/>
          <p:nvPr/>
        </p:nvSpPr>
        <p:spPr>
          <a:xfrm>
            <a:off x="3813048" y="1243584"/>
            <a:ext cx="15179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3D2E"/>
                </a:solidFill>
                <a:latin typeface="Arial"/>
                <a:ea typeface="Arial"/>
                <a:cs typeface="Arial"/>
                <a:sym typeface="Arial"/>
              </a:rPr>
              <a:t>[4-0-2]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3813048" y="1764792"/>
            <a:ext cx="15179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V - N - 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490972" y="1188720"/>
            <a:ext cx="1517904" cy="914400"/>
          </a:xfrm>
          <a:prstGeom prst="roundRect">
            <a:avLst>
              <a:gd fmla="val 8000" name="adj"/>
            </a:avLst>
          </a:prstGeom>
          <a:solidFill>
            <a:srgbClr val="E8F2EC"/>
          </a:solidFill>
          <a:ln cap="flat" cmpd="sng" w="12700">
            <a:solidFill>
              <a:srgbClr val="E8F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 txBox="1"/>
          <p:nvPr/>
        </p:nvSpPr>
        <p:spPr>
          <a:xfrm>
            <a:off x="5490972" y="1243584"/>
            <a:ext cx="15179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3D2E"/>
                </a:solidFill>
                <a:latin typeface="Arial"/>
                <a:ea typeface="Arial"/>
                <a:cs typeface="Arial"/>
                <a:sym typeface="Arial"/>
              </a:rPr>
              <a:t>[14]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5490972" y="1764792"/>
            <a:ext cx="15179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Buts marqués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7168896" y="1188720"/>
            <a:ext cx="1517904" cy="914400"/>
          </a:xfrm>
          <a:prstGeom prst="roundRect">
            <a:avLst>
              <a:gd fmla="val 8000" name="adj"/>
            </a:avLst>
          </a:prstGeom>
          <a:solidFill>
            <a:srgbClr val="E8F2EC"/>
          </a:solidFill>
          <a:ln cap="flat" cmpd="sng" w="12700">
            <a:solidFill>
              <a:srgbClr val="E8F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 txBox="1"/>
          <p:nvPr/>
        </p:nvSpPr>
        <p:spPr>
          <a:xfrm>
            <a:off x="7168896" y="1243584"/>
            <a:ext cx="15179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3D2E"/>
                </a:solidFill>
                <a:latin typeface="Arial"/>
                <a:ea typeface="Arial"/>
                <a:cs typeface="Arial"/>
                <a:sym typeface="Arial"/>
              </a:rPr>
              <a:t>[9]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7168896" y="1764792"/>
            <a:ext cx="15179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Buts encaissés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457200" y="237744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B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6B4A"/>
                </a:solidFill>
                <a:latin typeface="Arial"/>
                <a:ea typeface="Arial"/>
                <a:cs typeface="Arial"/>
                <a:sym typeface="Arial"/>
              </a:rPr>
              <a:t>3 DERNIERS MATCHS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57200" y="2734056"/>
            <a:ext cx="402336" cy="402336"/>
          </a:xfrm>
          <a:prstGeom prst="ellipse">
            <a:avLst/>
          </a:prstGeom>
          <a:solidFill>
            <a:srgbClr val="1F6B4A"/>
          </a:solidFill>
          <a:ln cap="flat" cmpd="sng" w="12700">
            <a:solidFill>
              <a:srgbClr val="1F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 txBox="1"/>
          <p:nvPr/>
        </p:nvSpPr>
        <p:spPr>
          <a:xfrm>
            <a:off x="457200" y="27340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1005840" y="2734056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[J4]  [Adversaire]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017520" y="2734056"/>
            <a:ext cx="1463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[2 - 1] · [Dom]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5"/>
          <p:cNvCxnSpPr/>
          <p:nvPr/>
        </p:nvCxnSpPr>
        <p:spPr>
          <a:xfrm>
            <a:off x="457200" y="3236976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D6DE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5"/>
          <p:cNvSpPr/>
          <p:nvPr/>
        </p:nvSpPr>
        <p:spPr>
          <a:xfrm>
            <a:off x="457200" y="3355848"/>
            <a:ext cx="402336" cy="402336"/>
          </a:xfrm>
          <a:prstGeom prst="ellipse">
            <a:avLst/>
          </a:prstGeom>
          <a:solidFill>
            <a:srgbClr val="6B7570"/>
          </a:solidFill>
          <a:ln cap="flat" cmpd="sng" w="12700">
            <a:solidFill>
              <a:srgbClr val="6B75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 txBox="1"/>
          <p:nvPr/>
        </p:nvSpPr>
        <p:spPr>
          <a:xfrm>
            <a:off x="457200" y="335584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1005840" y="3355848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[J3]  [Adversaire]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3017520" y="3355848"/>
            <a:ext cx="1463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[1 - 1] · [Ext]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5"/>
          <p:cNvCxnSpPr/>
          <p:nvPr/>
        </p:nvCxnSpPr>
        <p:spPr>
          <a:xfrm>
            <a:off x="457200" y="3858768"/>
            <a:ext cx="4023360" cy="0"/>
          </a:xfrm>
          <a:prstGeom prst="straightConnector1">
            <a:avLst/>
          </a:prstGeom>
          <a:noFill/>
          <a:ln cap="flat" cmpd="sng" w="9525">
            <a:solidFill>
              <a:srgbClr val="D6DE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5"/>
          <p:cNvSpPr/>
          <p:nvPr/>
        </p:nvSpPr>
        <p:spPr>
          <a:xfrm>
            <a:off x="457200" y="3977640"/>
            <a:ext cx="402336" cy="402336"/>
          </a:xfrm>
          <a:prstGeom prst="ellipse">
            <a:avLst/>
          </a:prstGeom>
          <a:solidFill>
            <a:srgbClr val="C8412F"/>
          </a:solidFill>
          <a:ln cap="flat" cmpd="sng" w="12700">
            <a:solidFill>
              <a:srgbClr val="C841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457200" y="39776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1005840" y="3977640"/>
            <a:ext cx="2011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[J2]  [Adversaire]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3017520" y="3977640"/>
            <a:ext cx="1463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[0 - 2] · [Ext]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4846320" y="23774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B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6B4A"/>
                </a:solidFill>
                <a:latin typeface="Arial"/>
                <a:ea typeface="Arial"/>
                <a:cs typeface="Arial"/>
                <a:sym typeface="Arial"/>
              </a:rPr>
              <a:t>DOMICILE / EXTÉRIEUR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3" name="Google Shape;113;p5"/>
          <p:cNvGraphicFramePr/>
          <p:nvPr/>
        </p:nvGraphicFramePr>
        <p:xfrm>
          <a:off x="4846320" y="26700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{165A1118-70DA-484F-B31E-DD051B7CF5F0}</a:tableStyleId>
              </a:tblPr>
              <a:tblGrid>
                <a:gridCol w="1188725"/>
                <a:gridCol w="1005850"/>
                <a:gridCol w="822950"/>
                <a:gridCol w="82295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57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6B75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V-N-D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57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6B75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BP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57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6B75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BC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1D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1F1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Domicile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1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1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[3-0-0]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1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1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[9]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1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1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[3]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1D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1F1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Extérieur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1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1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[1-0-2]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1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1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[5]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1F1D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1B1F1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[6]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4" name="Google Shape;114;p5"/>
          <p:cNvSpPr/>
          <p:nvPr/>
        </p:nvSpPr>
        <p:spPr>
          <a:xfrm>
            <a:off x="4846320" y="3794760"/>
            <a:ext cx="237744" cy="329184"/>
          </a:xfrm>
          <a:prstGeom prst="roundRect">
            <a:avLst>
              <a:gd fmla="val 11538" name="adj"/>
            </a:avLst>
          </a:prstGeom>
          <a:solidFill>
            <a:srgbClr val="F2B705"/>
          </a:solidFill>
          <a:ln cap="flat" cmpd="sng" w="12700">
            <a:solidFill>
              <a:srgbClr val="F2B7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 txBox="1"/>
          <p:nvPr/>
        </p:nvSpPr>
        <p:spPr>
          <a:xfrm>
            <a:off x="5175504" y="3794760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[8] jaunes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309360" y="3794760"/>
            <a:ext cx="237744" cy="329184"/>
          </a:xfrm>
          <a:prstGeom prst="roundRect">
            <a:avLst>
              <a:gd fmla="val 11538" name="adj"/>
            </a:avLst>
          </a:prstGeom>
          <a:solidFill>
            <a:srgbClr val="C8412F"/>
          </a:solidFill>
          <a:ln cap="flat" cmpd="sng" w="12700">
            <a:solidFill>
              <a:srgbClr val="C841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6638544" y="3794760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[1] rouge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4846320" y="42519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Meilleur buteur : </a:t>
            </a:r>
            <a:r>
              <a:rPr b="0" i="0" lang="en-US" sz="12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[Nom — X buts]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OLS SENIORS 2  ·  PRÉSENTATION ADVERSAIRE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F3D2E"/>
          </a:solidFill>
          <a:ln cap="flat" cmpd="sng" w="12700">
            <a:solidFill>
              <a:srgbClr val="0F3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846" y="5084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 txBox="1"/>
          <p:nvPr/>
        </p:nvSpPr>
        <p:spPr>
          <a:xfrm>
            <a:off x="1143000" y="34747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B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6B4A"/>
                </a:solidFill>
                <a:latin typeface="Arial"/>
                <a:ea typeface="Arial"/>
                <a:cs typeface="Arial"/>
                <a:sym typeface="Arial"/>
              </a:rPr>
              <a:t>ANALYSE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1143000" y="5486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Forces &amp; faiblesses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57200" y="1188720"/>
            <a:ext cx="4023360" cy="2514600"/>
          </a:xfrm>
          <a:prstGeom prst="roundRect">
            <a:avLst>
              <a:gd fmla="val 2909" name="adj"/>
            </a:avLst>
          </a:prstGeom>
          <a:solidFill>
            <a:srgbClr val="E8F2EC"/>
          </a:solidFill>
          <a:ln cap="flat" cmpd="sng" w="12700">
            <a:solidFill>
              <a:srgbClr val="E8F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85800" y="1353312"/>
            <a:ext cx="384048" cy="384048"/>
          </a:xfrm>
          <a:prstGeom prst="ellipse">
            <a:avLst/>
          </a:prstGeom>
          <a:solidFill>
            <a:srgbClr val="1F6B4A"/>
          </a:solidFill>
          <a:ln cap="flat" cmpd="sng" w="12700">
            <a:solidFill>
              <a:srgbClr val="1F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652" y="1453164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 txBox="1"/>
          <p:nvPr/>
        </p:nvSpPr>
        <p:spPr>
          <a:xfrm>
            <a:off x="1188720" y="1353312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B4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6B4A"/>
                </a:solidFill>
                <a:latin typeface="Arial"/>
                <a:ea typeface="Arial"/>
                <a:cs typeface="Arial"/>
                <a:sym typeface="Arial"/>
              </a:rPr>
              <a:t>LEURS FORCES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685800" y="1920240"/>
            <a:ext cx="3611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[Ex : très forts sur coups de pied arrêtés]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1D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[Ex : attaquant rapide dans la profondeur]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1D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[Ex : pressing haut les 20 premières min]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663440" y="1188720"/>
            <a:ext cx="4023360" cy="2514600"/>
          </a:xfrm>
          <a:prstGeom prst="roundRect">
            <a:avLst>
              <a:gd fmla="val 2909" name="adj"/>
            </a:avLst>
          </a:prstGeom>
          <a:solidFill>
            <a:srgbClr val="FBEAE7"/>
          </a:solidFill>
          <a:ln cap="flat" cmpd="sng" w="12700">
            <a:solidFill>
              <a:srgbClr val="FBE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4892040" y="1353312"/>
            <a:ext cx="384048" cy="384048"/>
          </a:xfrm>
          <a:prstGeom prst="ellipse">
            <a:avLst/>
          </a:prstGeom>
          <a:solidFill>
            <a:srgbClr val="C8412F"/>
          </a:solidFill>
          <a:ln cap="flat" cmpd="sng" w="12700">
            <a:solidFill>
              <a:srgbClr val="C841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91892" y="1453164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5394960" y="1353312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412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8412F"/>
                </a:solidFill>
                <a:latin typeface="Arial"/>
                <a:ea typeface="Arial"/>
                <a:cs typeface="Arial"/>
                <a:sym typeface="Arial"/>
              </a:rPr>
              <a:t>LEURS FAIBLESSES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4892040" y="1920240"/>
            <a:ext cx="3611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[Ex : latéraux qui montent, dos libre]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1D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[Ex : lents à la relance sous pression]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B1F1D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[Ex : baisse physique après la 60e]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0F3D2E"/>
          </a:solidFill>
          <a:ln cap="flat" cmpd="sng" w="12700">
            <a:solidFill>
              <a:srgbClr val="0F3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685800" y="38862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2B705"/>
                </a:solidFill>
                <a:latin typeface="Arial"/>
                <a:ea typeface="Arial"/>
                <a:cs typeface="Arial"/>
                <a:sym typeface="Arial"/>
              </a:rPr>
              <a:t>À EXPLOITER 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[Ex : attaquer dans le dos de leur latéral droit, frapper de loin]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OLS SENIORS 2  ·  PRÉSENTATION ADVERSAIRE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F3D2E"/>
          </a:solidFill>
          <a:ln cap="flat" cmpd="sng" w="12700">
            <a:solidFill>
              <a:srgbClr val="0F3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846" y="5084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 txBox="1"/>
          <p:nvPr/>
        </p:nvSpPr>
        <p:spPr>
          <a:xfrm>
            <a:off x="1143000" y="34747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B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6B4A"/>
                </a:solidFill>
                <a:latin typeface="Arial"/>
                <a:ea typeface="Arial"/>
                <a:cs typeface="Arial"/>
                <a:sym typeface="Arial"/>
              </a:rPr>
              <a:t>TACTIQUE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1143000" y="5486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Dispositif attendu : [4-4-2]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57200" y="1188720"/>
            <a:ext cx="4937760" cy="3291840"/>
          </a:xfrm>
          <a:prstGeom prst="rect">
            <a:avLst/>
          </a:prstGeom>
          <a:solidFill>
            <a:srgbClr val="1F6B4A"/>
          </a:solidFill>
          <a:ln cap="flat" cmpd="sng" w="12700">
            <a:solidFill>
              <a:srgbClr val="1F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566928" y="1298448"/>
            <a:ext cx="4718304" cy="3072384"/>
          </a:xfrm>
          <a:prstGeom prst="rect">
            <a:avLst/>
          </a:prstGeom>
          <a:noFill/>
          <a:ln cap="flat" cmpd="sng" w="15875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" name="Google Shape;155;p7"/>
          <p:cNvCxnSpPr/>
          <p:nvPr/>
        </p:nvCxnSpPr>
        <p:spPr>
          <a:xfrm>
            <a:off x="2926080" y="1298448"/>
            <a:ext cx="0" cy="3072384"/>
          </a:xfrm>
          <a:prstGeom prst="straightConnector1">
            <a:avLst/>
          </a:prstGeom>
          <a:noFill/>
          <a:ln cap="flat" cmpd="sng" w="15875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7"/>
          <p:cNvSpPr/>
          <p:nvPr/>
        </p:nvSpPr>
        <p:spPr>
          <a:xfrm>
            <a:off x="2514600" y="2423160"/>
            <a:ext cx="822960" cy="822960"/>
          </a:xfrm>
          <a:prstGeom prst="ellipse">
            <a:avLst/>
          </a:prstGeom>
          <a:noFill/>
          <a:ln cap="flat" cmpd="sng" w="15875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566928" y="2011680"/>
            <a:ext cx="685800" cy="1645920"/>
          </a:xfrm>
          <a:prstGeom prst="rect">
            <a:avLst/>
          </a:prstGeom>
          <a:noFill/>
          <a:ln cap="flat" cmpd="sng" w="15875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599432" y="2011680"/>
            <a:ext cx="685800" cy="1645920"/>
          </a:xfrm>
          <a:prstGeom prst="rect">
            <a:avLst/>
          </a:prstGeom>
          <a:noFill/>
          <a:ln cap="flat" cmpd="sng" w="15875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722376" y="2642616"/>
            <a:ext cx="384048" cy="384048"/>
          </a:xfrm>
          <a:prstGeom prst="ellipse">
            <a:avLst/>
          </a:prstGeom>
          <a:solidFill>
            <a:srgbClr val="C841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722376" y="26426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591056" y="1453896"/>
            <a:ext cx="384048" cy="384048"/>
          </a:xfrm>
          <a:prstGeom prst="ellipse">
            <a:avLst/>
          </a:prstGeom>
          <a:solidFill>
            <a:srgbClr val="C841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 txBox="1"/>
          <p:nvPr/>
        </p:nvSpPr>
        <p:spPr>
          <a:xfrm>
            <a:off x="1591056" y="14538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591056" y="2231136"/>
            <a:ext cx="384048" cy="384048"/>
          </a:xfrm>
          <a:prstGeom prst="ellipse">
            <a:avLst/>
          </a:prstGeom>
          <a:solidFill>
            <a:srgbClr val="C841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1591056" y="2231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591056" y="3054096"/>
            <a:ext cx="384048" cy="384048"/>
          </a:xfrm>
          <a:prstGeom prst="ellipse">
            <a:avLst/>
          </a:prstGeom>
          <a:solidFill>
            <a:srgbClr val="C841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1591056" y="30540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591056" y="3831336"/>
            <a:ext cx="384048" cy="384048"/>
          </a:xfrm>
          <a:prstGeom prst="ellipse">
            <a:avLst/>
          </a:prstGeom>
          <a:solidFill>
            <a:srgbClr val="C841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 txBox="1"/>
          <p:nvPr/>
        </p:nvSpPr>
        <p:spPr>
          <a:xfrm>
            <a:off x="1591056" y="38313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825496" y="1453896"/>
            <a:ext cx="384048" cy="384048"/>
          </a:xfrm>
          <a:prstGeom prst="ellipse">
            <a:avLst/>
          </a:prstGeom>
          <a:solidFill>
            <a:srgbClr val="C841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 txBox="1"/>
          <p:nvPr/>
        </p:nvSpPr>
        <p:spPr>
          <a:xfrm>
            <a:off x="2825496" y="14538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2825496" y="2231136"/>
            <a:ext cx="384048" cy="384048"/>
          </a:xfrm>
          <a:prstGeom prst="ellipse">
            <a:avLst/>
          </a:prstGeom>
          <a:solidFill>
            <a:srgbClr val="C841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 txBox="1"/>
          <p:nvPr/>
        </p:nvSpPr>
        <p:spPr>
          <a:xfrm>
            <a:off x="2825496" y="22311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825496" y="3054096"/>
            <a:ext cx="384048" cy="384048"/>
          </a:xfrm>
          <a:prstGeom prst="ellipse">
            <a:avLst/>
          </a:prstGeom>
          <a:solidFill>
            <a:srgbClr val="C841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 txBox="1"/>
          <p:nvPr/>
        </p:nvSpPr>
        <p:spPr>
          <a:xfrm>
            <a:off x="2825496" y="30540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2825496" y="3831336"/>
            <a:ext cx="384048" cy="384048"/>
          </a:xfrm>
          <a:prstGeom prst="ellipse">
            <a:avLst/>
          </a:prstGeom>
          <a:solidFill>
            <a:srgbClr val="C841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 txBox="1"/>
          <p:nvPr/>
        </p:nvSpPr>
        <p:spPr>
          <a:xfrm>
            <a:off x="2825496" y="38313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059936" y="2185416"/>
            <a:ext cx="384048" cy="384048"/>
          </a:xfrm>
          <a:prstGeom prst="ellipse">
            <a:avLst/>
          </a:prstGeom>
          <a:solidFill>
            <a:srgbClr val="C841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 txBox="1"/>
          <p:nvPr/>
        </p:nvSpPr>
        <p:spPr>
          <a:xfrm>
            <a:off x="4059936" y="21854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059936" y="3099816"/>
            <a:ext cx="384048" cy="384048"/>
          </a:xfrm>
          <a:prstGeom prst="ellipse">
            <a:avLst/>
          </a:prstGeom>
          <a:solidFill>
            <a:srgbClr val="C841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4059936" y="30998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457200" y="4517136"/>
            <a:ext cx="4937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Sens de leur attaque 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5669280" y="118872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B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6B4A"/>
                </a:solidFill>
                <a:latin typeface="Arial"/>
                <a:ea typeface="Arial"/>
                <a:cs typeface="Arial"/>
                <a:sym typeface="Arial"/>
              </a:rPr>
              <a:t>JOUEURS À SURVEILLER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669280" y="1536192"/>
            <a:ext cx="384048" cy="384048"/>
          </a:xfrm>
          <a:prstGeom prst="ellipse">
            <a:avLst/>
          </a:prstGeom>
          <a:solidFill>
            <a:srgbClr val="C8412F"/>
          </a:solidFill>
          <a:ln cap="flat" cmpd="sng" w="12700">
            <a:solidFill>
              <a:srgbClr val="C841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5669280" y="15361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6172200" y="150876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[Nom] — Attaquant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6172200" y="173736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[Rapide, cherche la profondeur]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669280" y="2176272"/>
            <a:ext cx="384048" cy="384048"/>
          </a:xfrm>
          <a:prstGeom prst="ellipse">
            <a:avLst/>
          </a:prstGeom>
          <a:solidFill>
            <a:srgbClr val="C8412F"/>
          </a:solidFill>
          <a:ln cap="flat" cmpd="sng" w="12700">
            <a:solidFill>
              <a:srgbClr val="C841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 txBox="1"/>
          <p:nvPr/>
        </p:nvSpPr>
        <p:spPr>
          <a:xfrm>
            <a:off x="5669280" y="21762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6172200" y="21488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[Nom] — Milieu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6172200" y="23774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[Oriente tout le jeu]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669280" y="2816352"/>
            <a:ext cx="384048" cy="384048"/>
          </a:xfrm>
          <a:prstGeom prst="ellipse">
            <a:avLst/>
          </a:prstGeom>
          <a:solidFill>
            <a:srgbClr val="C8412F"/>
          </a:solidFill>
          <a:ln cap="flat" cmpd="sng" w="12700">
            <a:solidFill>
              <a:srgbClr val="C841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5669280" y="28163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6172200" y="278892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[Nom] — Défenseur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6172200" y="301752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[Dangereux sur corners]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669280" y="3520440"/>
            <a:ext cx="3017520" cy="960120"/>
          </a:xfrm>
          <a:prstGeom prst="roundRect">
            <a:avLst>
              <a:gd fmla="val 7619" name="adj"/>
            </a:avLst>
          </a:prstGeom>
          <a:solidFill>
            <a:srgbClr val="E8F2EC"/>
          </a:solidFill>
          <a:ln cap="flat" cmpd="sng" w="12700">
            <a:solidFill>
              <a:srgbClr val="E8F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5852160" y="3566160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Style : </a:t>
            </a:r>
            <a:r>
              <a:rPr b="0" i="0" lang="en-US" sz="11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[Jeu direct / possession]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B1F1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Bloc : </a:t>
            </a:r>
            <a:r>
              <a:rPr b="0" i="0" lang="en-US" sz="11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[Haut / médian / bas]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B1F1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Relance : </a:t>
            </a:r>
            <a:r>
              <a:rPr b="0" i="0" lang="en-US" sz="11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[Courte / longue sur le 9]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OLS SENIORS 2  ·  PRÉSENTATION ADVERSAIRE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F3D2E"/>
          </a:solidFill>
          <a:ln cap="flat" cmpd="sng" w="12700">
            <a:solidFill>
              <a:srgbClr val="0F3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846" y="5084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 txBox="1"/>
          <p:nvPr/>
        </p:nvSpPr>
        <p:spPr>
          <a:xfrm>
            <a:off x="1143000" y="34747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B4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6B4A"/>
                </a:solidFill>
                <a:latin typeface="Arial"/>
                <a:ea typeface="Arial"/>
                <a:cs typeface="Arial"/>
                <a:sym typeface="Arial"/>
              </a:rPr>
              <a:t>À SAVOIR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1143000" y="5486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Ambiance &amp; infos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fmla="val 4848" name="adj"/>
            </a:avLst>
          </a:prstGeom>
          <a:solidFill>
            <a:srgbClr val="E8F2EC"/>
          </a:solidFill>
          <a:ln cap="flat" cmpd="sng" w="12700">
            <a:solidFill>
              <a:srgbClr val="E8F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672" y="15361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8"/>
          <p:cNvSpPr txBox="1"/>
          <p:nvPr/>
        </p:nvSpPr>
        <p:spPr>
          <a:xfrm>
            <a:off x="1280160" y="14173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3D2E"/>
                </a:solidFill>
                <a:latin typeface="Arial"/>
                <a:ea typeface="Arial"/>
                <a:cs typeface="Arial"/>
                <a:sym typeface="Arial"/>
              </a:rPr>
              <a:t>Public &amp; ambiance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685800" y="2011680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[Ex : public chaud, proche du terrain — on ne répond pas]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fmla="val 4848" name="adj"/>
            </a:avLst>
          </a:prstGeom>
          <a:solidFill>
            <a:srgbClr val="E8F2EC"/>
          </a:solidFill>
          <a:ln cap="flat" cmpd="sng" w="12700">
            <a:solidFill>
              <a:srgbClr val="E8F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0912" y="15361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8"/>
          <p:cNvSpPr txBox="1"/>
          <p:nvPr/>
        </p:nvSpPr>
        <p:spPr>
          <a:xfrm>
            <a:off x="5486400" y="14173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3D2E"/>
                </a:solidFill>
                <a:latin typeface="Arial"/>
                <a:ea typeface="Arial"/>
                <a:cs typeface="Arial"/>
                <a:sym typeface="Arial"/>
              </a:rPr>
              <a:t>Dernières confrontations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4892040" y="2011680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[Ex : saison dernière 1-2 chez eux, 3-0 chez nous]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fmla="val 4848" name="adj"/>
            </a:avLst>
          </a:prstGeom>
          <a:solidFill>
            <a:srgbClr val="E8F2EC"/>
          </a:solidFill>
          <a:ln cap="flat" cmpd="sng" w="12700">
            <a:solidFill>
              <a:srgbClr val="E8F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672" y="32278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 txBox="1"/>
          <p:nvPr/>
        </p:nvSpPr>
        <p:spPr>
          <a:xfrm>
            <a:off x="1280160" y="310896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3D2E"/>
                </a:solidFill>
                <a:latin typeface="Arial"/>
                <a:ea typeface="Arial"/>
                <a:cs typeface="Arial"/>
                <a:sym typeface="Arial"/>
              </a:rPr>
              <a:t>Arbitrage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685800" y="3703320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[Officiel / bénévole — on reste calme, seul le capitaine parle]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fmla="val 4848" name="adj"/>
            </a:avLst>
          </a:prstGeom>
          <a:solidFill>
            <a:srgbClr val="E8F2EC"/>
          </a:solidFill>
          <a:ln cap="flat" cmpd="sng" w="12700">
            <a:solidFill>
              <a:srgbClr val="E8F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4892040" y="3108960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5" name="Google Shape;22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10912" y="32278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 txBox="1"/>
          <p:nvPr/>
        </p:nvSpPr>
        <p:spPr>
          <a:xfrm>
            <a:off x="5486400" y="310896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3D2E"/>
                </a:solidFill>
                <a:latin typeface="Arial"/>
                <a:ea typeface="Arial"/>
                <a:cs typeface="Arial"/>
                <a:sym typeface="Arial"/>
              </a:rPr>
              <a:t>Infos pratiques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4892040" y="3703320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1D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B1F1D"/>
                </a:solidFill>
                <a:latin typeface="Arial"/>
                <a:ea typeface="Arial"/>
                <a:cs typeface="Arial"/>
                <a:sym typeface="Arial"/>
              </a:rPr>
              <a:t>[Tenue, vestiaires, parking, absents / suspendus]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OLS SENIORS 2  ·  PRÉSENTATION ADVERSAIRE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57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3D2E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"/>
          <p:cNvSpPr/>
          <p:nvPr/>
        </p:nvSpPr>
        <p:spPr>
          <a:xfrm>
            <a:off x="6583680" y="-1097280"/>
            <a:ext cx="3657600" cy="3657600"/>
          </a:xfrm>
          <a:prstGeom prst="ellipse">
            <a:avLst/>
          </a:prstGeom>
          <a:solidFill>
            <a:srgbClr val="0F3D2E"/>
          </a:solidFill>
          <a:ln cap="flat" cmpd="sng" w="25400">
            <a:solidFill>
              <a:srgbClr val="1F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2B705"/>
                </a:solidFill>
                <a:latin typeface="Arial"/>
                <a:ea typeface="Arial"/>
                <a:cs typeface="Arial"/>
                <a:sym typeface="Arial"/>
              </a:rPr>
              <a:t>POUR GAGNER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548640" y="82296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Nos 3 clés du match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548640" y="1828800"/>
            <a:ext cx="2514600" cy="1920240"/>
          </a:xfrm>
          <a:prstGeom prst="roundRect">
            <a:avLst>
              <a:gd fmla="val 3810" name="adj"/>
            </a:avLst>
          </a:prstGeom>
          <a:solidFill>
            <a:srgbClr val="1F6B4A"/>
          </a:solidFill>
          <a:ln cap="flat" cmpd="sng" w="12700">
            <a:solidFill>
              <a:srgbClr val="1F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 txBox="1"/>
          <p:nvPr/>
        </p:nvSpPr>
        <p:spPr>
          <a:xfrm>
            <a:off x="777240" y="196596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2B70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777240" y="2651760"/>
            <a:ext cx="2103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[Ex : gagner les duels et les deuxièmes ballons]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3291840" y="1828800"/>
            <a:ext cx="2514600" cy="1920240"/>
          </a:xfrm>
          <a:prstGeom prst="roundRect">
            <a:avLst>
              <a:gd fmla="val 3810" name="adj"/>
            </a:avLst>
          </a:prstGeom>
          <a:solidFill>
            <a:srgbClr val="1F6B4A"/>
          </a:solidFill>
          <a:ln cap="flat" cmpd="sng" w="12700">
            <a:solidFill>
              <a:srgbClr val="1F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 txBox="1"/>
          <p:nvPr/>
        </p:nvSpPr>
        <p:spPr>
          <a:xfrm>
            <a:off x="3520440" y="196596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2B70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3520440" y="2651760"/>
            <a:ext cx="2103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[Ex : jouer vite dans le dos de leurs latéraux]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6035040" y="1828800"/>
            <a:ext cx="2514600" cy="1920240"/>
          </a:xfrm>
          <a:prstGeom prst="roundRect">
            <a:avLst>
              <a:gd fmla="val 3810" name="adj"/>
            </a:avLst>
          </a:prstGeom>
          <a:solidFill>
            <a:srgbClr val="1F6B4A"/>
          </a:solidFill>
          <a:ln cap="flat" cmpd="sng" w="12700">
            <a:solidFill>
              <a:srgbClr val="1F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 txBox="1"/>
          <p:nvPr/>
        </p:nvSpPr>
        <p:spPr>
          <a:xfrm>
            <a:off x="6263640" y="196596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2B70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6263640" y="2651760"/>
            <a:ext cx="2103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[Ex : zéro faute bête autour de notre surface]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9B8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A9C9B8"/>
                </a:solidFill>
                <a:latin typeface="Arial"/>
                <a:ea typeface="Arial"/>
                <a:cs typeface="Arial"/>
                <a:sym typeface="Arial"/>
              </a:rPr>
              <a:t>[Message du coach — ex : « On joue chez eux comme chez nous. Tous ensemble. »]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